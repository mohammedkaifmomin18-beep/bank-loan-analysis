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71" r:id="rId4"/>
    <p:sldId id="267" r:id="rId5"/>
    <p:sldId id="265" r:id="rId6"/>
    <p:sldId id="268" r:id="rId7"/>
    <p:sldId id="269" r:id="rId8"/>
    <p:sldId id="266" r:id="rId9"/>
    <p:sldId id="270" r:id="rId10"/>
    <p:sldId id="272" r:id="rId11"/>
    <p:sldId id="273" r:id="rId12"/>
    <p:sldId id="264"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47A198-F132-429A-94B4-D060DA69713A}" v="44" dt="2025-10-28T19:16:59.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kaif Momin" userId="586203413f72994a" providerId="LiveId" clId="{90D1D7B7-D491-44D7-8BFE-F6A45BD10F3A}"/>
    <pc:docChg chg="undo custSel addSld delSld modSld sldOrd">
      <pc:chgData name="Mohammed kaif Momin" userId="586203413f72994a" providerId="LiveId" clId="{90D1D7B7-D491-44D7-8BFE-F6A45BD10F3A}" dt="2025-10-28T19:17:28.680" v="608" actId="47"/>
      <pc:docMkLst>
        <pc:docMk/>
      </pc:docMkLst>
      <pc:sldChg chg="modSp mod">
        <pc:chgData name="Mohammed kaif Momin" userId="586203413f72994a" providerId="LiveId" clId="{90D1D7B7-D491-44D7-8BFE-F6A45BD10F3A}" dt="2025-10-27T18:10:46.510" v="316" actId="27636"/>
        <pc:sldMkLst>
          <pc:docMk/>
          <pc:sldMk cId="0" sldId="256"/>
        </pc:sldMkLst>
        <pc:spChg chg="mod">
          <ac:chgData name="Mohammed kaif Momin" userId="586203413f72994a" providerId="LiveId" clId="{90D1D7B7-D491-44D7-8BFE-F6A45BD10F3A}" dt="2025-10-27T18:10:11.659" v="312" actId="20577"/>
          <ac:spMkLst>
            <pc:docMk/>
            <pc:sldMk cId="0" sldId="256"/>
            <ac:spMk id="2" creationId="{00000000-0000-0000-0000-000000000000}"/>
          </ac:spMkLst>
        </pc:spChg>
        <pc:spChg chg="mod">
          <ac:chgData name="Mohammed kaif Momin" userId="586203413f72994a" providerId="LiveId" clId="{90D1D7B7-D491-44D7-8BFE-F6A45BD10F3A}" dt="2025-10-27T18:10:46.510" v="316" actId="27636"/>
          <ac:spMkLst>
            <pc:docMk/>
            <pc:sldMk cId="0" sldId="256"/>
            <ac:spMk id="3" creationId="{00000000-0000-0000-0000-000000000000}"/>
          </ac:spMkLst>
        </pc:spChg>
      </pc:sldChg>
      <pc:sldChg chg="modSp del">
        <pc:chgData name="Mohammed kaif Momin" userId="586203413f72994a" providerId="LiveId" clId="{90D1D7B7-D491-44D7-8BFE-F6A45BD10F3A}" dt="2025-10-24T19:49:17.733" v="131" actId="47"/>
        <pc:sldMkLst>
          <pc:docMk/>
          <pc:sldMk cId="0" sldId="257"/>
        </pc:sldMkLst>
      </pc:sldChg>
      <pc:sldChg chg="addSp modSp mod">
        <pc:chgData name="Mohammed kaif Momin" userId="586203413f72994a" providerId="LiveId" clId="{90D1D7B7-D491-44D7-8BFE-F6A45BD10F3A}" dt="2025-10-27T18:09:07.891" v="304" actId="20577"/>
        <pc:sldMkLst>
          <pc:docMk/>
          <pc:sldMk cId="0" sldId="258"/>
        </pc:sldMkLst>
        <pc:spChg chg="mod">
          <ac:chgData name="Mohammed kaif Momin" userId="586203413f72994a" providerId="LiveId" clId="{90D1D7B7-D491-44D7-8BFE-F6A45BD10F3A}" dt="2025-10-23T18:31:03.061" v="0"/>
          <ac:spMkLst>
            <pc:docMk/>
            <pc:sldMk cId="0" sldId="258"/>
            <ac:spMk id="2" creationId="{00000000-0000-0000-0000-000000000000}"/>
          </ac:spMkLst>
        </pc:spChg>
        <pc:spChg chg="mod">
          <ac:chgData name="Mohammed kaif Momin" userId="586203413f72994a" providerId="LiveId" clId="{90D1D7B7-D491-44D7-8BFE-F6A45BD10F3A}" dt="2025-10-27T18:09:07.891" v="304" actId="20577"/>
          <ac:spMkLst>
            <pc:docMk/>
            <pc:sldMk cId="0" sldId="258"/>
            <ac:spMk id="3" creationId="{00000000-0000-0000-0000-000000000000}"/>
          </ac:spMkLst>
        </pc:spChg>
        <pc:picChg chg="add mod">
          <ac:chgData name="Mohammed kaif Momin" userId="586203413f72994a" providerId="LiveId" clId="{90D1D7B7-D491-44D7-8BFE-F6A45BD10F3A}" dt="2025-10-27T18:07:52.026" v="291" actId="1076"/>
          <ac:picMkLst>
            <pc:docMk/>
            <pc:sldMk cId="0" sldId="258"/>
            <ac:picMk id="5" creationId="{66E0FEBD-BB2E-3F78-4871-2CBA37F435F8}"/>
          </ac:picMkLst>
        </pc:picChg>
      </pc:sldChg>
      <pc:sldChg chg="modSp del">
        <pc:chgData name="Mohammed kaif Momin" userId="586203413f72994a" providerId="LiveId" clId="{90D1D7B7-D491-44D7-8BFE-F6A45BD10F3A}" dt="2025-10-25T21:00:21.303" v="165" actId="47"/>
        <pc:sldMkLst>
          <pc:docMk/>
          <pc:sldMk cId="0" sldId="259"/>
        </pc:sldMkLst>
      </pc:sldChg>
      <pc:sldChg chg="modSp del">
        <pc:chgData name="Mohammed kaif Momin" userId="586203413f72994a" providerId="LiveId" clId="{90D1D7B7-D491-44D7-8BFE-F6A45BD10F3A}" dt="2025-10-25T20:59:59.019" v="164" actId="47"/>
        <pc:sldMkLst>
          <pc:docMk/>
          <pc:sldMk cId="0" sldId="260"/>
        </pc:sldMkLst>
      </pc:sldChg>
      <pc:sldChg chg="modSp del mod ord">
        <pc:chgData name="Mohammed kaif Momin" userId="586203413f72994a" providerId="LiveId" clId="{90D1D7B7-D491-44D7-8BFE-F6A45BD10F3A}" dt="2025-10-27T17:49:28.185" v="243" actId="47"/>
        <pc:sldMkLst>
          <pc:docMk/>
          <pc:sldMk cId="0" sldId="261"/>
        </pc:sldMkLst>
        <pc:spChg chg="mod">
          <ac:chgData name="Mohammed kaif Momin" userId="586203413f72994a" providerId="LiveId" clId="{90D1D7B7-D491-44D7-8BFE-F6A45BD10F3A}" dt="2025-10-27T17:49:19.217" v="241" actId="6549"/>
          <ac:spMkLst>
            <pc:docMk/>
            <pc:sldMk cId="0" sldId="261"/>
            <ac:spMk id="2" creationId="{00000000-0000-0000-0000-000000000000}"/>
          </ac:spMkLst>
        </pc:spChg>
        <pc:spChg chg="mod">
          <ac:chgData name="Mohammed kaif Momin" userId="586203413f72994a" providerId="LiveId" clId="{90D1D7B7-D491-44D7-8BFE-F6A45BD10F3A}" dt="2025-10-27T17:49:22.418" v="242" actId="6549"/>
          <ac:spMkLst>
            <pc:docMk/>
            <pc:sldMk cId="0" sldId="261"/>
            <ac:spMk id="3" creationId="{00000000-0000-0000-0000-000000000000}"/>
          </ac:spMkLst>
        </pc:spChg>
      </pc:sldChg>
      <pc:sldChg chg="modSp del">
        <pc:chgData name="Mohammed kaif Momin" userId="586203413f72994a" providerId="LiveId" clId="{90D1D7B7-D491-44D7-8BFE-F6A45BD10F3A}" dt="2025-10-25T20:59:02.573" v="163" actId="47"/>
        <pc:sldMkLst>
          <pc:docMk/>
          <pc:sldMk cId="0" sldId="262"/>
        </pc:sldMkLst>
      </pc:sldChg>
      <pc:sldChg chg="addSp delSp modSp del mod">
        <pc:chgData name="Mohammed kaif Momin" userId="586203413f72994a" providerId="LiveId" clId="{90D1D7B7-D491-44D7-8BFE-F6A45BD10F3A}" dt="2025-10-28T13:05:58.083" v="416" actId="47"/>
        <pc:sldMkLst>
          <pc:docMk/>
          <pc:sldMk cId="0" sldId="263"/>
        </pc:sldMkLst>
        <pc:spChg chg="mod">
          <ac:chgData name="Mohammed kaif Momin" userId="586203413f72994a" providerId="LiveId" clId="{90D1D7B7-D491-44D7-8BFE-F6A45BD10F3A}" dt="2025-10-28T12:59:47.901" v="376" actId="2710"/>
          <ac:spMkLst>
            <pc:docMk/>
            <pc:sldMk cId="0" sldId="263"/>
            <ac:spMk id="3" creationId="{00000000-0000-0000-0000-000000000000}"/>
          </ac:spMkLst>
        </pc:spChg>
        <pc:spChg chg="add">
          <ac:chgData name="Mohammed kaif Momin" userId="586203413f72994a" providerId="LiveId" clId="{90D1D7B7-D491-44D7-8BFE-F6A45BD10F3A}" dt="2025-10-28T12:52:08.678" v="331"/>
          <ac:spMkLst>
            <pc:docMk/>
            <pc:sldMk cId="0" sldId="263"/>
            <ac:spMk id="4" creationId="{EC1C1757-5C28-6660-285A-BA2C46ACAE3B}"/>
          </ac:spMkLst>
        </pc:spChg>
        <pc:spChg chg="add del mod">
          <ac:chgData name="Mohammed kaif Momin" userId="586203413f72994a" providerId="LiveId" clId="{90D1D7B7-D491-44D7-8BFE-F6A45BD10F3A}" dt="2025-10-28T12:55:53.435" v="357"/>
          <ac:spMkLst>
            <pc:docMk/>
            <pc:sldMk cId="0" sldId="263"/>
            <ac:spMk id="5" creationId="{CF102BEB-2824-E4C4-CA82-A36665574AC6}"/>
          </ac:spMkLst>
        </pc:spChg>
        <pc:spChg chg="add del mod">
          <ac:chgData name="Mohammed kaif Momin" userId="586203413f72994a" providerId="LiveId" clId="{90D1D7B7-D491-44D7-8BFE-F6A45BD10F3A}" dt="2025-10-28T12:55:53.435" v="359"/>
          <ac:spMkLst>
            <pc:docMk/>
            <pc:sldMk cId="0" sldId="263"/>
            <ac:spMk id="6" creationId="{62066A4E-9696-78F3-C1F1-2C3D903689AB}"/>
          </ac:spMkLst>
        </pc:spChg>
      </pc:sldChg>
      <pc:sldChg chg="modSp">
        <pc:chgData name="Mohammed kaif Momin" userId="586203413f72994a" providerId="LiveId" clId="{90D1D7B7-D491-44D7-8BFE-F6A45BD10F3A}" dt="2025-10-23T18:31:03.061" v="0"/>
        <pc:sldMkLst>
          <pc:docMk/>
          <pc:sldMk cId="0" sldId="264"/>
        </pc:sldMkLst>
        <pc:spChg chg="mod">
          <ac:chgData name="Mohammed kaif Momin" userId="586203413f72994a" providerId="LiveId" clId="{90D1D7B7-D491-44D7-8BFE-F6A45BD10F3A}" dt="2025-10-23T18:31:03.061" v="0"/>
          <ac:spMkLst>
            <pc:docMk/>
            <pc:sldMk cId="0" sldId="264"/>
            <ac:spMk id="2" creationId="{00000000-0000-0000-0000-000000000000}"/>
          </ac:spMkLst>
        </pc:spChg>
        <pc:spChg chg="mod">
          <ac:chgData name="Mohammed kaif Momin" userId="586203413f72994a" providerId="LiveId" clId="{90D1D7B7-D491-44D7-8BFE-F6A45BD10F3A}" dt="2025-10-23T18:31:03.061" v="0"/>
          <ac:spMkLst>
            <pc:docMk/>
            <pc:sldMk cId="0" sldId="264"/>
            <ac:spMk id="3" creationId="{00000000-0000-0000-0000-000000000000}"/>
          </ac:spMkLst>
        </pc:spChg>
      </pc:sldChg>
      <pc:sldChg chg="addSp delSp modSp new mod">
        <pc:chgData name="Mohammed kaif Momin" userId="586203413f72994a" providerId="LiveId" clId="{90D1D7B7-D491-44D7-8BFE-F6A45BD10F3A}" dt="2025-10-24T19:08:42.928" v="80" actId="14100"/>
        <pc:sldMkLst>
          <pc:docMk/>
          <pc:sldMk cId="3660708996" sldId="265"/>
        </pc:sldMkLst>
        <pc:spChg chg="mod">
          <ac:chgData name="Mohammed kaif Momin" userId="586203413f72994a" providerId="LiveId" clId="{90D1D7B7-D491-44D7-8BFE-F6A45BD10F3A}" dt="2025-10-24T19:08:42.928" v="80" actId="14100"/>
          <ac:spMkLst>
            <pc:docMk/>
            <pc:sldMk cId="3660708996" sldId="265"/>
            <ac:spMk id="2" creationId="{5E93F05D-A2AA-6B9B-8D9C-5F2876033C4D}"/>
          </ac:spMkLst>
        </pc:spChg>
        <pc:spChg chg="mod">
          <ac:chgData name="Mohammed kaif Momin" userId="586203413f72994a" providerId="LiveId" clId="{90D1D7B7-D491-44D7-8BFE-F6A45BD10F3A}" dt="2025-10-24T19:07:20.499" v="74" actId="27636"/>
          <ac:spMkLst>
            <pc:docMk/>
            <pc:sldMk cId="3660708996" sldId="265"/>
            <ac:spMk id="4" creationId="{F0B51A8D-F86D-6DB7-DCD4-50981A2DD33A}"/>
          </ac:spMkLst>
        </pc:spChg>
        <pc:picChg chg="add mod">
          <ac:chgData name="Mohammed kaif Momin" userId="586203413f72994a" providerId="LiveId" clId="{90D1D7B7-D491-44D7-8BFE-F6A45BD10F3A}" dt="2025-10-24T19:06:55.340" v="70" actId="14100"/>
          <ac:picMkLst>
            <pc:docMk/>
            <pc:sldMk cId="3660708996" sldId="265"/>
            <ac:picMk id="6" creationId="{B5764B94-DBC3-29AC-A141-C370C7433DBA}"/>
          </ac:picMkLst>
        </pc:picChg>
      </pc:sldChg>
      <pc:sldChg chg="addSp delSp modSp new mod">
        <pc:chgData name="Mohammed kaif Momin" userId="586203413f72994a" providerId="LiveId" clId="{90D1D7B7-D491-44D7-8BFE-F6A45BD10F3A}" dt="2025-10-25T18:17:11.975" v="132" actId="1076"/>
        <pc:sldMkLst>
          <pc:docMk/>
          <pc:sldMk cId="3390111443" sldId="266"/>
        </pc:sldMkLst>
        <pc:spChg chg="mod">
          <ac:chgData name="Mohammed kaif Momin" userId="586203413f72994a" providerId="LiveId" clId="{90D1D7B7-D491-44D7-8BFE-F6A45BD10F3A}" dt="2025-10-24T19:42:34.339" v="119" actId="113"/>
          <ac:spMkLst>
            <pc:docMk/>
            <pc:sldMk cId="3390111443" sldId="266"/>
            <ac:spMk id="2" creationId="{8D5DC3F8-2593-27F7-99F7-FF9FCAFAC43B}"/>
          </ac:spMkLst>
        </pc:spChg>
        <pc:spChg chg="mod">
          <ac:chgData name="Mohammed kaif Momin" userId="586203413f72994a" providerId="LiveId" clId="{90D1D7B7-D491-44D7-8BFE-F6A45BD10F3A}" dt="2025-10-24T19:30:53.035" v="90" actId="14100"/>
          <ac:spMkLst>
            <pc:docMk/>
            <pc:sldMk cId="3390111443" sldId="266"/>
            <ac:spMk id="4" creationId="{8381B41D-7612-FC62-E5B4-A98B0D628E5E}"/>
          </ac:spMkLst>
        </pc:spChg>
        <pc:picChg chg="add mod">
          <ac:chgData name="Mohammed kaif Momin" userId="586203413f72994a" providerId="LiveId" clId="{90D1D7B7-D491-44D7-8BFE-F6A45BD10F3A}" dt="2025-10-25T18:17:11.975" v="132" actId="1076"/>
          <ac:picMkLst>
            <pc:docMk/>
            <pc:sldMk cId="3390111443" sldId="266"/>
            <ac:picMk id="7" creationId="{10852267-C504-B88B-557A-11DAE9F9D30E}"/>
          </ac:picMkLst>
        </pc:picChg>
      </pc:sldChg>
      <pc:sldChg chg="addSp delSp modSp new mod ord">
        <pc:chgData name="Mohammed kaif Momin" userId="586203413f72994a" providerId="LiveId" clId="{90D1D7B7-D491-44D7-8BFE-F6A45BD10F3A}" dt="2025-10-27T18:26:00.044" v="329" actId="113"/>
        <pc:sldMkLst>
          <pc:docMk/>
          <pc:sldMk cId="3211928400" sldId="267"/>
        </pc:sldMkLst>
        <pc:spChg chg="mod">
          <ac:chgData name="Mohammed kaif Momin" userId="586203413f72994a" providerId="LiveId" clId="{90D1D7B7-D491-44D7-8BFE-F6A45BD10F3A}" dt="2025-10-24T19:39:56.811" v="112" actId="113"/>
          <ac:spMkLst>
            <pc:docMk/>
            <pc:sldMk cId="3211928400" sldId="267"/>
            <ac:spMk id="2" creationId="{E7C03AF3-C300-6FAC-A720-46C8EE41F07C}"/>
          </ac:spMkLst>
        </pc:spChg>
        <pc:spChg chg="mod">
          <ac:chgData name="Mohammed kaif Momin" userId="586203413f72994a" providerId="LiveId" clId="{90D1D7B7-D491-44D7-8BFE-F6A45BD10F3A}" dt="2025-10-27T18:26:00.044" v="329" actId="113"/>
          <ac:spMkLst>
            <pc:docMk/>
            <pc:sldMk cId="3211928400" sldId="267"/>
            <ac:spMk id="4" creationId="{EBBA6450-6C95-EE74-AEBB-A5FEABF4051F}"/>
          </ac:spMkLst>
        </pc:spChg>
        <pc:picChg chg="add mod">
          <ac:chgData name="Mohammed kaif Momin" userId="586203413f72994a" providerId="LiveId" clId="{90D1D7B7-D491-44D7-8BFE-F6A45BD10F3A}" dt="2025-10-24T19:39:20.974" v="106" actId="14100"/>
          <ac:picMkLst>
            <pc:docMk/>
            <pc:sldMk cId="3211928400" sldId="267"/>
            <ac:picMk id="5" creationId="{30AA3B5E-4E7D-0284-FD2B-0EEC515E7098}"/>
          </ac:picMkLst>
        </pc:picChg>
      </pc:sldChg>
      <pc:sldChg chg="addSp delSp modSp new mod ord">
        <pc:chgData name="Mohammed kaif Momin" userId="586203413f72994a" providerId="LiveId" clId="{90D1D7B7-D491-44D7-8BFE-F6A45BD10F3A}" dt="2025-10-24T19:43:03.685" v="123"/>
        <pc:sldMkLst>
          <pc:docMk/>
          <pc:sldMk cId="2854626885" sldId="268"/>
        </pc:sldMkLst>
        <pc:spChg chg="mod">
          <ac:chgData name="Mohammed kaif Momin" userId="586203413f72994a" providerId="LiveId" clId="{90D1D7B7-D491-44D7-8BFE-F6A45BD10F3A}" dt="2025-10-24T19:40:24.379" v="114" actId="113"/>
          <ac:spMkLst>
            <pc:docMk/>
            <pc:sldMk cId="2854626885" sldId="268"/>
            <ac:spMk id="2" creationId="{D4276F07-AFC1-0262-0322-3A80B8BE4A39}"/>
          </ac:spMkLst>
        </pc:spChg>
        <pc:spChg chg="add del mod">
          <ac:chgData name="Mohammed kaif Momin" userId="586203413f72994a" providerId="LiveId" clId="{90D1D7B7-D491-44D7-8BFE-F6A45BD10F3A}" dt="2025-10-24T19:36:58.002" v="103"/>
          <ac:spMkLst>
            <pc:docMk/>
            <pc:sldMk cId="2854626885" sldId="268"/>
            <ac:spMk id="4" creationId="{AF9B10EF-2AD1-319F-8F50-241142F0E67A}"/>
          </ac:spMkLst>
        </pc:spChg>
        <pc:picChg chg="add mod">
          <ac:chgData name="Mohammed kaif Momin" userId="586203413f72994a" providerId="LiveId" clId="{90D1D7B7-D491-44D7-8BFE-F6A45BD10F3A}" dt="2025-10-24T19:36:15.884" v="102" actId="14100"/>
          <ac:picMkLst>
            <pc:docMk/>
            <pc:sldMk cId="2854626885" sldId="268"/>
            <ac:picMk id="6" creationId="{0E33FE3F-EE2B-E35F-176A-9F5C5B40A862}"/>
          </ac:picMkLst>
        </pc:picChg>
      </pc:sldChg>
      <pc:sldChg chg="addSp delSp modSp new mod">
        <pc:chgData name="Mohammed kaif Momin" userId="586203413f72994a" providerId="LiveId" clId="{90D1D7B7-D491-44D7-8BFE-F6A45BD10F3A}" dt="2025-10-24T19:47:35.263" v="130" actId="113"/>
        <pc:sldMkLst>
          <pc:docMk/>
          <pc:sldMk cId="128915410" sldId="269"/>
        </pc:sldMkLst>
        <pc:spChg chg="mod">
          <ac:chgData name="Mohammed kaif Momin" userId="586203413f72994a" providerId="LiveId" clId="{90D1D7B7-D491-44D7-8BFE-F6A45BD10F3A}" dt="2025-10-24T19:47:35.263" v="130" actId="113"/>
          <ac:spMkLst>
            <pc:docMk/>
            <pc:sldMk cId="128915410" sldId="269"/>
            <ac:spMk id="2" creationId="{FD4DEF1A-90A8-3ABA-93C8-FC9257017D30}"/>
          </ac:spMkLst>
        </pc:spChg>
        <pc:spChg chg="mod">
          <ac:chgData name="Mohammed kaif Momin" userId="586203413f72994a" providerId="LiveId" clId="{90D1D7B7-D491-44D7-8BFE-F6A45BD10F3A}" dt="2025-10-24T19:46:28.694" v="128"/>
          <ac:spMkLst>
            <pc:docMk/>
            <pc:sldMk cId="128915410" sldId="269"/>
            <ac:spMk id="4" creationId="{048B7507-7B0B-130E-2488-CDD51C7A73F9}"/>
          </ac:spMkLst>
        </pc:spChg>
        <pc:picChg chg="add mod">
          <ac:chgData name="Mohammed kaif Momin" userId="586203413f72994a" providerId="LiveId" clId="{90D1D7B7-D491-44D7-8BFE-F6A45BD10F3A}" dt="2025-10-24T19:46:11.689" v="127" actId="14100"/>
          <ac:picMkLst>
            <pc:docMk/>
            <pc:sldMk cId="128915410" sldId="269"/>
            <ac:picMk id="5" creationId="{9E08A46E-ED1C-5F4D-B28D-F29264995FED}"/>
          </ac:picMkLst>
        </pc:picChg>
      </pc:sldChg>
      <pc:sldChg chg="addSp delSp modSp new mod">
        <pc:chgData name="Mohammed kaif Momin" userId="586203413f72994a" providerId="LiveId" clId="{90D1D7B7-D491-44D7-8BFE-F6A45BD10F3A}" dt="2025-10-25T18:22:48.650" v="141" actId="113"/>
        <pc:sldMkLst>
          <pc:docMk/>
          <pc:sldMk cId="3569405047" sldId="270"/>
        </pc:sldMkLst>
        <pc:spChg chg="mod">
          <ac:chgData name="Mohammed kaif Momin" userId="586203413f72994a" providerId="LiveId" clId="{90D1D7B7-D491-44D7-8BFE-F6A45BD10F3A}" dt="2025-10-25T18:22:48.650" v="141" actId="113"/>
          <ac:spMkLst>
            <pc:docMk/>
            <pc:sldMk cId="3569405047" sldId="270"/>
            <ac:spMk id="2" creationId="{15D1AD6C-3248-73B0-5FA3-2CC095E2DEE7}"/>
          </ac:spMkLst>
        </pc:spChg>
        <pc:spChg chg="mod">
          <ac:chgData name="Mohammed kaif Momin" userId="586203413f72994a" providerId="LiveId" clId="{90D1D7B7-D491-44D7-8BFE-F6A45BD10F3A}" dt="2025-10-25T18:22:21.914" v="139" actId="27636"/>
          <ac:spMkLst>
            <pc:docMk/>
            <pc:sldMk cId="3569405047" sldId="270"/>
            <ac:spMk id="4" creationId="{C273F37F-F88A-4A1D-258E-65F300EB17DE}"/>
          </ac:spMkLst>
        </pc:spChg>
        <pc:picChg chg="add mod ord">
          <ac:chgData name="Mohammed kaif Momin" userId="586203413f72994a" providerId="LiveId" clId="{90D1D7B7-D491-44D7-8BFE-F6A45BD10F3A}" dt="2025-10-25T18:17:45.678" v="135" actId="14100"/>
          <ac:picMkLst>
            <pc:docMk/>
            <pc:sldMk cId="3569405047" sldId="270"/>
            <ac:picMk id="6" creationId="{D630C8A2-AC3E-943E-0584-0B7FBA6D46BC}"/>
          </ac:picMkLst>
        </pc:picChg>
      </pc:sldChg>
      <pc:sldChg chg="addSp modSp mod ord">
        <pc:chgData name="Mohammed kaif Momin" userId="586203413f72994a" providerId="LiveId" clId="{90D1D7B7-D491-44D7-8BFE-F6A45BD10F3A}" dt="2025-10-27T18:13:56.137" v="321" actId="113"/>
        <pc:sldMkLst>
          <pc:docMk/>
          <pc:sldMk cId="0" sldId="271"/>
        </pc:sldMkLst>
        <pc:spChg chg="mod">
          <ac:chgData name="Mohammed kaif Momin" userId="586203413f72994a" providerId="LiveId" clId="{90D1D7B7-D491-44D7-8BFE-F6A45BD10F3A}" dt="2025-10-27T17:42:46.342" v="187" actId="113"/>
          <ac:spMkLst>
            <pc:docMk/>
            <pc:sldMk cId="0" sldId="271"/>
            <ac:spMk id="2" creationId="{00000000-0000-0000-0000-000000000000}"/>
          </ac:spMkLst>
        </pc:spChg>
        <pc:spChg chg="mod">
          <ac:chgData name="Mohammed kaif Momin" userId="586203413f72994a" providerId="LiveId" clId="{90D1D7B7-D491-44D7-8BFE-F6A45BD10F3A}" dt="2025-10-27T17:41:43.099" v="177" actId="14100"/>
          <ac:spMkLst>
            <pc:docMk/>
            <pc:sldMk cId="0" sldId="271"/>
            <ac:spMk id="3" creationId="{00000000-0000-0000-0000-000000000000}"/>
          </ac:spMkLst>
        </pc:spChg>
        <pc:spChg chg="add mod">
          <ac:chgData name="Mohammed kaif Momin" userId="586203413f72994a" providerId="LiveId" clId="{90D1D7B7-D491-44D7-8BFE-F6A45BD10F3A}" dt="2025-10-27T18:13:56.137" v="321" actId="113"/>
          <ac:spMkLst>
            <pc:docMk/>
            <pc:sldMk cId="0" sldId="271"/>
            <ac:spMk id="5" creationId="{7E2401C6-77BF-7DC1-6203-563D566C8BEF}"/>
          </ac:spMkLst>
        </pc:spChg>
      </pc:sldChg>
      <pc:sldChg chg="modSp mod ord">
        <pc:chgData name="Mohammed kaif Momin" userId="586203413f72994a" providerId="LiveId" clId="{90D1D7B7-D491-44D7-8BFE-F6A45BD10F3A}" dt="2025-10-28T19:17:04.524" v="607" actId="14100"/>
        <pc:sldMkLst>
          <pc:docMk/>
          <pc:sldMk cId="0" sldId="272"/>
        </pc:sldMkLst>
        <pc:spChg chg="mod">
          <ac:chgData name="Mohammed kaif Momin" userId="586203413f72994a" providerId="LiveId" clId="{90D1D7B7-D491-44D7-8BFE-F6A45BD10F3A}" dt="2025-10-27T17:49:46.777" v="249" actId="113"/>
          <ac:spMkLst>
            <pc:docMk/>
            <pc:sldMk cId="0" sldId="272"/>
            <ac:spMk id="2" creationId="{00000000-0000-0000-0000-000000000000}"/>
          </ac:spMkLst>
        </pc:spChg>
        <pc:spChg chg="mod">
          <ac:chgData name="Mohammed kaif Momin" userId="586203413f72994a" providerId="LiveId" clId="{90D1D7B7-D491-44D7-8BFE-F6A45BD10F3A}" dt="2025-10-28T19:17:04.524" v="607" actId="14100"/>
          <ac:spMkLst>
            <pc:docMk/>
            <pc:sldMk cId="0" sldId="272"/>
            <ac:spMk id="3" creationId="{00000000-0000-0000-0000-000000000000}"/>
          </ac:spMkLst>
        </pc:spChg>
      </pc:sldChg>
      <pc:sldChg chg="addSp modSp new mod">
        <pc:chgData name="Mohammed kaif Momin" userId="586203413f72994a" providerId="LiveId" clId="{90D1D7B7-D491-44D7-8BFE-F6A45BD10F3A}" dt="2025-10-28T13:06:09.261" v="419" actId="113"/>
        <pc:sldMkLst>
          <pc:docMk/>
          <pc:sldMk cId="3021909795" sldId="273"/>
        </pc:sldMkLst>
        <pc:spChg chg="mod">
          <ac:chgData name="Mohammed kaif Momin" userId="586203413f72994a" providerId="LiveId" clId="{90D1D7B7-D491-44D7-8BFE-F6A45BD10F3A}" dt="2025-10-28T13:06:09.261" v="419" actId="113"/>
          <ac:spMkLst>
            <pc:docMk/>
            <pc:sldMk cId="3021909795" sldId="273"/>
            <ac:spMk id="2" creationId="{D70837F6-CC00-C803-24A6-336D575C2F36}"/>
          </ac:spMkLst>
        </pc:spChg>
        <pc:spChg chg="add mod">
          <ac:chgData name="Mohammed kaif Momin" userId="586203413f72994a" providerId="LiveId" clId="{90D1D7B7-D491-44D7-8BFE-F6A45BD10F3A}" dt="2025-10-28T13:05:38.664" v="415" actId="20577"/>
          <ac:spMkLst>
            <pc:docMk/>
            <pc:sldMk cId="3021909795" sldId="273"/>
            <ac:spMk id="4" creationId="{ADAB60A7-0D48-A820-8A15-993924EC090E}"/>
          </ac:spMkLst>
        </pc:spChg>
      </pc:sldChg>
      <pc:sldChg chg="addSp modSp new del mod">
        <pc:chgData name="Mohammed kaif Momin" userId="586203413f72994a" providerId="LiveId" clId="{90D1D7B7-D491-44D7-8BFE-F6A45BD10F3A}" dt="2025-10-28T19:17:28.680" v="608" actId="47"/>
        <pc:sldMkLst>
          <pc:docMk/>
          <pc:sldMk cId="2191006930" sldId="274"/>
        </pc:sldMkLst>
        <pc:spChg chg="add mod">
          <ac:chgData name="Mohammed kaif Momin" userId="586203413f72994a" providerId="LiveId" clId="{90D1D7B7-D491-44D7-8BFE-F6A45BD10F3A}" dt="2025-10-28T19:14:54.156" v="603" actId="20577"/>
          <ac:spMkLst>
            <pc:docMk/>
            <pc:sldMk cId="2191006930" sldId="274"/>
            <ac:spMk id="3" creationId="{4F32EEB9-AF09-D3A6-9DFA-C19616468F3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892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5226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35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9312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102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5995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10/29/2025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8706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2378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7093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179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180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10/29/2025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060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758951"/>
            <a:ext cx="7545878" cy="3459087"/>
          </a:xfrm>
        </p:spPr>
        <p:txBody>
          <a:bodyPr>
            <a:noAutofit/>
          </a:bodyPr>
          <a:lstStyle/>
          <a:p>
            <a:r>
              <a:rPr lang="en-US" sz="6000" b="1" dirty="0"/>
              <a:t>Bank Loan Analytics : Insights for Smarter Lending Decisions</a:t>
            </a:r>
            <a:endParaRPr sz="6000" b="1" dirty="0"/>
          </a:p>
        </p:txBody>
      </p:sp>
      <p:sp>
        <p:nvSpPr>
          <p:cNvPr id="3" name="Subtitle 2"/>
          <p:cNvSpPr>
            <a:spLocks noGrp="1"/>
          </p:cNvSpPr>
          <p:nvPr>
            <p:ph type="subTitle" idx="1"/>
          </p:nvPr>
        </p:nvSpPr>
        <p:spPr>
          <a:xfrm>
            <a:off x="3342968" y="4455621"/>
            <a:ext cx="5250426" cy="1237256"/>
          </a:xfrm>
        </p:spPr>
        <p:txBody>
          <a:bodyPr>
            <a:normAutofit/>
          </a:bodyPr>
          <a:lstStyle/>
          <a:p>
            <a:r>
              <a:rPr lang="en-US" dirty="0"/>
              <a:t>Exploring customer behavior and loan performance using multivariate analysis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lstStyle/>
          <a:p>
            <a:r>
              <a:rPr lang="en-US" dirty="0"/>
              <a:t>Key details about this dataset:</a:t>
            </a:r>
          </a:p>
          <a:p>
            <a:pPr lvl="1">
              <a:buFont typeface="Arial" panose="020B0604020202020204" pitchFamily="34" charset="0"/>
              <a:buChar char="•"/>
            </a:pPr>
            <a:r>
              <a:rPr lang="en-US" dirty="0"/>
              <a:t>👥 2.3 Lakh Customers with 🧩 22 Features </a:t>
            </a:r>
          </a:p>
          <a:p>
            <a:pPr lvl="1">
              <a:buFont typeface="Arial" panose="020B0604020202020204" pitchFamily="34" charset="0"/>
              <a:buChar char="•"/>
            </a:pPr>
            <a:r>
              <a:rPr lang="en-US" dirty="0"/>
              <a:t>📊 10 Categorical Columns</a:t>
            </a:r>
          </a:p>
          <a:p>
            <a:pPr lvl="1">
              <a:buFont typeface="Arial" panose="020B0604020202020204" pitchFamily="34" charset="0"/>
              <a:buChar char="•"/>
            </a:pPr>
            <a:r>
              <a:rPr lang="en-US" dirty="0"/>
              <a:t>🔢 9 Numerical Columns</a:t>
            </a:r>
          </a:p>
          <a:p>
            <a:pPr lvl="1">
              <a:buFont typeface="Arial" panose="020B0604020202020204" pitchFamily="34" charset="0"/>
              <a:buChar char="•"/>
            </a:pPr>
            <a:r>
              <a:rPr lang="en-US" dirty="0"/>
              <a:t>       1 Date &amp; Time Columns</a:t>
            </a:r>
          </a:p>
          <a:p>
            <a:pPr lvl="1">
              <a:buFont typeface="Arial" panose="020B0604020202020204" pitchFamily="34" charset="0"/>
              <a:buChar char="•"/>
            </a:pPr>
            <a:r>
              <a:rPr lang="en-US" dirty="0"/>
              <a:t>🗺️ 2 Geographical Columns</a:t>
            </a:r>
          </a:p>
          <a:p>
            <a:pPr lvl="1">
              <a:buFont typeface="Arial" panose="020B0604020202020204" pitchFamily="34" charset="0"/>
              <a:buChar char="•"/>
            </a:pPr>
            <a:r>
              <a:rPr lang="en-US" dirty="0"/>
              <a:t>👶 Age range: 18–70 years (avg ≈ 44)</a:t>
            </a:r>
          </a:p>
          <a:p>
            <a:pPr lvl="1"/>
            <a:endParaRPr lang="en-US" dirty="0"/>
          </a:p>
        </p:txBody>
      </p:sp>
      <p:pic>
        <p:nvPicPr>
          <p:cNvPr id="5" name="Graphic 4" descr="Daily calendar with solid fill">
            <a:extLst>
              <a:ext uri="{FF2B5EF4-FFF2-40B4-BE49-F238E27FC236}">
                <a16:creationId xmlns:a16="http://schemas.microsoft.com/office/drawing/2014/main" id="{66E0FEBD-BB2E-3F78-4871-2CBA37F435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5111" y="3138949"/>
            <a:ext cx="358877" cy="3588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 of Multivariate Analysis</a:t>
            </a:r>
          </a:p>
        </p:txBody>
      </p:sp>
      <p:sp>
        <p:nvSpPr>
          <p:cNvPr id="3" name="Content Placeholder 2"/>
          <p:cNvSpPr>
            <a:spLocks noGrp="1"/>
          </p:cNvSpPr>
          <p:nvPr>
            <p:ph idx="1"/>
          </p:nvPr>
        </p:nvSpPr>
        <p:spPr>
          <a:xfrm>
            <a:off x="255639" y="1845734"/>
            <a:ext cx="8583561" cy="4023360"/>
          </a:xfrm>
        </p:spPr>
        <p:txBody>
          <a:bodyPr/>
          <a:lstStyle/>
          <a:p>
            <a:pPr marL="0" indent="0">
              <a:buNone/>
            </a:pPr>
            <a:r>
              <a:rPr dirty="0"/>
              <a:t> </a:t>
            </a:r>
          </a:p>
        </p:txBody>
      </p:sp>
      <p:sp>
        <p:nvSpPr>
          <p:cNvPr id="5" name="TextBox 4">
            <a:extLst>
              <a:ext uri="{FF2B5EF4-FFF2-40B4-BE49-F238E27FC236}">
                <a16:creationId xmlns:a16="http://schemas.microsoft.com/office/drawing/2014/main" id="{7E2401C6-77BF-7DC1-6203-563D566C8BEF}"/>
              </a:ext>
            </a:extLst>
          </p:cNvPr>
          <p:cNvSpPr txBox="1"/>
          <p:nvPr/>
        </p:nvSpPr>
        <p:spPr>
          <a:xfrm>
            <a:off x="391569" y="1845734"/>
            <a:ext cx="8406581" cy="3785652"/>
          </a:xfrm>
          <a:prstGeom prst="rect">
            <a:avLst/>
          </a:prstGeom>
          <a:noFill/>
        </p:spPr>
        <p:txBody>
          <a:bodyPr wrap="square">
            <a:spAutoFit/>
          </a:bodyPr>
          <a:lstStyle/>
          <a:p>
            <a:pPr marL="285750" indent="-285750">
              <a:buFont typeface="Arial" panose="020B0604020202020204" pitchFamily="34" charset="0"/>
              <a:buChar char="•"/>
            </a:pPr>
            <a:r>
              <a:rPr lang="en-US" sz="2400" dirty="0"/>
              <a:t>To Understand how multiple factors jointly impact loan outcomes.</a:t>
            </a:r>
          </a:p>
          <a:p>
            <a:pPr marL="285750" indent="-285750">
              <a:buFont typeface="Arial" panose="020B0604020202020204" pitchFamily="34" charset="0"/>
              <a:buChar char="•"/>
            </a:pPr>
            <a:r>
              <a:rPr lang="en-US" sz="2400" dirty="0"/>
              <a:t> To understand the relationship between Occupation, Gender, and Loan Status.</a:t>
            </a:r>
          </a:p>
          <a:p>
            <a:pPr marL="285750" indent="-285750">
              <a:buFont typeface="Arial" panose="020B0604020202020204" pitchFamily="34" charset="0"/>
              <a:buChar char="•"/>
            </a:pPr>
            <a:r>
              <a:rPr lang="en-US" sz="2400" dirty="0"/>
              <a:t>To analyze the combined impact of Age, Annual Income, and Loan Amount.</a:t>
            </a:r>
          </a:p>
          <a:p>
            <a:pPr marL="285750" indent="-285750">
              <a:buFont typeface="Arial" panose="020B0604020202020204" pitchFamily="34" charset="0"/>
              <a:buChar char="•"/>
            </a:pPr>
            <a:r>
              <a:rPr lang="en-US" sz="2400" dirty="0"/>
              <a:t>To study how Credit Score and Interest Rate jointly affect Repayment Status.</a:t>
            </a:r>
          </a:p>
          <a:p>
            <a:pPr marL="285750" indent="-285750">
              <a:buFont typeface="Arial" panose="020B0604020202020204" pitchFamily="34" charset="0"/>
              <a:buChar char="•"/>
            </a:pPr>
            <a:r>
              <a:rPr lang="en-US" sz="2400" dirty="0"/>
              <a:t> To identify customer segments showing strong repayment behavior across multiple factors.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3AF3-C300-6FAC-A720-46C8EE41F07C}"/>
              </a:ext>
            </a:extLst>
          </p:cNvPr>
          <p:cNvSpPr>
            <a:spLocks noGrp="1"/>
          </p:cNvSpPr>
          <p:nvPr>
            <p:ph type="title"/>
          </p:nvPr>
        </p:nvSpPr>
        <p:spPr>
          <a:xfrm>
            <a:off x="822960" y="286603"/>
            <a:ext cx="7543800" cy="2200957"/>
          </a:xfrm>
        </p:spPr>
        <p:txBody>
          <a:bodyPr>
            <a:normAutofit/>
          </a:bodyPr>
          <a:lstStyle/>
          <a:p>
            <a:r>
              <a:rPr lang="en-US" b="1" dirty="0"/>
              <a:t>Age, Income &amp; </a:t>
            </a:r>
            <a:r>
              <a:rPr lang="en-US" b="1" dirty="0" err="1"/>
              <a:t>Loan_Amount</a:t>
            </a:r>
            <a:r>
              <a:rPr lang="en-US" b="1" dirty="0"/>
              <a:t> combined?</a:t>
            </a:r>
            <a:br>
              <a:rPr lang="en-US" dirty="0"/>
            </a:br>
            <a:endParaRPr lang="en-US" dirty="0"/>
          </a:p>
        </p:txBody>
      </p:sp>
      <p:sp>
        <p:nvSpPr>
          <p:cNvPr id="4" name="Content Placeholder 3">
            <a:extLst>
              <a:ext uri="{FF2B5EF4-FFF2-40B4-BE49-F238E27FC236}">
                <a16:creationId xmlns:a16="http://schemas.microsoft.com/office/drawing/2014/main" id="{EBBA6450-6C95-EE74-AEBB-A5FEABF4051F}"/>
              </a:ext>
            </a:extLst>
          </p:cNvPr>
          <p:cNvSpPr>
            <a:spLocks noGrp="1"/>
          </p:cNvSpPr>
          <p:nvPr>
            <p:ph sz="half" idx="2"/>
          </p:nvPr>
        </p:nvSpPr>
        <p:spPr>
          <a:xfrm>
            <a:off x="5161934" y="1845736"/>
            <a:ext cx="3421627" cy="4023359"/>
          </a:xfrm>
        </p:spPr>
        <p:txBody>
          <a:bodyPr/>
          <a:lstStyle/>
          <a:p>
            <a:r>
              <a:rPr lang="en-US" dirty="0"/>
              <a:t>“Loan amount distribution shows that income level significantly impacts borrowing capacity, while age group differences are minimal.</a:t>
            </a:r>
            <a:br>
              <a:rPr lang="en-US" dirty="0"/>
            </a:br>
            <a:r>
              <a:rPr lang="en-US" dirty="0"/>
              <a:t>Higher-income customers have wider loan ranges and higher medians, but all groups include outliers with very large loans.”</a:t>
            </a:r>
          </a:p>
          <a:p>
            <a:r>
              <a:rPr lang="en-US" b="1" dirty="0"/>
              <a:t>Higher income → Higher loan capacity, Age effect minimal.</a:t>
            </a:r>
          </a:p>
        </p:txBody>
      </p:sp>
      <p:pic>
        <p:nvPicPr>
          <p:cNvPr id="5" name="Content Placeholder 4">
            <a:extLst>
              <a:ext uri="{FF2B5EF4-FFF2-40B4-BE49-F238E27FC236}">
                <a16:creationId xmlns:a16="http://schemas.microsoft.com/office/drawing/2014/main" id="{30AA3B5E-4E7D-0284-FD2B-0EEC515E7098}"/>
              </a:ext>
            </a:extLst>
          </p:cNvPr>
          <p:cNvPicPr>
            <a:picLocks noGrp="1" noChangeAspect="1"/>
          </p:cNvPicPr>
          <p:nvPr>
            <p:ph sz="half" idx="1"/>
          </p:nvPr>
        </p:nvPicPr>
        <p:blipFill>
          <a:blip r:embed="rId2"/>
          <a:stretch>
            <a:fillRect/>
          </a:stretch>
        </p:blipFill>
        <p:spPr>
          <a:xfrm>
            <a:off x="28977" y="2182761"/>
            <a:ext cx="4951972" cy="2675313"/>
          </a:xfrm>
          <a:prstGeom prst="rect">
            <a:avLst/>
          </a:prstGeom>
        </p:spPr>
      </p:pic>
    </p:spTree>
    <p:extLst>
      <p:ext uri="{BB962C8B-B14F-4D97-AF65-F5344CB8AC3E}">
        <p14:creationId xmlns:p14="http://schemas.microsoft.com/office/powerpoint/2010/main" val="321192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F05D-A2AA-6B9B-8D9C-5F2876033C4D}"/>
              </a:ext>
            </a:extLst>
          </p:cNvPr>
          <p:cNvSpPr>
            <a:spLocks noGrp="1"/>
          </p:cNvSpPr>
          <p:nvPr>
            <p:ph type="title"/>
          </p:nvPr>
        </p:nvSpPr>
        <p:spPr>
          <a:xfrm>
            <a:off x="822960" y="286604"/>
            <a:ext cx="7849092" cy="1559132"/>
          </a:xfrm>
        </p:spPr>
        <p:txBody>
          <a:bodyPr>
            <a:noAutofit/>
          </a:bodyPr>
          <a:lstStyle/>
          <a:p>
            <a:r>
              <a:rPr lang="en-US" sz="4000" b="1" dirty="0"/>
              <a:t>State and Bank Branch combinations have the best Loan Approval Rate?</a:t>
            </a:r>
          </a:p>
        </p:txBody>
      </p:sp>
      <p:sp>
        <p:nvSpPr>
          <p:cNvPr id="4" name="Content Placeholder 3">
            <a:extLst>
              <a:ext uri="{FF2B5EF4-FFF2-40B4-BE49-F238E27FC236}">
                <a16:creationId xmlns:a16="http://schemas.microsoft.com/office/drawing/2014/main" id="{F0B51A8D-F86D-6DB7-DCD4-50981A2DD33A}"/>
              </a:ext>
            </a:extLst>
          </p:cNvPr>
          <p:cNvSpPr>
            <a:spLocks noGrp="1"/>
          </p:cNvSpPr>
          <p:nvPr>
            <p:ph sz="half" idx="2"/>
          </p:nvPr>
        </p:nvSpPr>
        <p:spPr>
          <a:xfrm>
            <a:off x="4663440" y="1845736"/>
            <a:ext cx="4008612" cy="4456741"/>
          </a:xfrm>
        </p:spPr>
        <p:txBody>
          <a:bodyPr>
            <a:normAutofit/>
          </a:bodyPr>
          <a:lstStyle/>
          <a:p>
            <a:r>
              <a:rPr lang="en-US" dirty="0"/>
              <a:t>The analysis shows that metropolitan branches such as </a:t>
            </a:r>
            <a:r>
              <a:rPr lang="en-US" b="1" dirty="0"/>
              <a:t>Delhi, Mumbai, Kolkata, and Bangalore</a:t>
            </a:r>
            <a:r>
              <a:rPr lang="en-US" dirty="0"/>
              <a:t> achieve the highest loan approval rates, with </a:t>
            </a:r>
            <a:r>
              <a:rPr lang="en-US" b="1" dirty="0"/>
              <a:t>Uttar Pradesh (Delhi Branch)</a:t>
            </a:r>
            <a:r>
              <a:rPr lang="en-US" dirty="0"/>
              <a:t> leading at </a:t>
            </a:r>
            <a:r>
              <a:rPr lang="en-US" b="1" dirty="0"/>
              <a:t>67.64%</a:t>
            </a:r>
            <a:r>
              <a:rPr lang="en-US" dirty="0"/>
              <a:t>. Approval performance remains consistent across top branches, suggesting a uniform policy and efficient processing system. Major urban centers dominate loan approvals, reflecting </a:t>
            </a:r>
            <a:r>
              <a:rPr lang="en-US" b="1" dirty="0"/>
              <a:t>stronger financial literacy and improved documentation practices</a:t>
            </a:r>
            <a:r>
              <a:rPr lang="en-US" dirty="0"/>
              <a:t> in these regions.</a:t>
            </a:r>
          </a:p>
        </p:txBody>
      </p:sp>
      <p:pic>
        <p:nvPicPr>
          <p:cNvPr id="6" name="Content Placeholder 5">
            <a:extLst>
              <a:ext uri="{FF2B5EF4-FFF2-40B4-BE49-F238E27FC236}">
                <a16:creationId xmlns:a16="http://schemas.microsoft.com/office/drawing/2014/main" id="{B5764B94-DBC3-29AC-A141-C370C7433DBA}"/>
              </a:ext>
            </a:extLst>
          </p:cNvPr>
          <p:cNvPicPr>
            <a:picLocks noGrp="1" noChangeAspect="1"/>
          </p:cNvPicPr>
          <p:nvPr>
            <p:ph sz="half" idx="1"/>
          </p:nvPr>
        </p:nvPicPr>
        <p:blipFill>
          <a:blip r:embed="rId2"/>
          <a:stretch>
            <a:fillRect/>
          </a:stretch>
        </p:blipFill>
        <p:spPr>
          <a:xfrm>
            <a:off x="168342" y="2212257"/>
            <a:ext cx="4495097" cy="2674255"/>
          </a:xfrm>
          <a:prstGeom prst="rect">
            <a:avLst/>
          </a:prstGeom>
        </p:spPr>
      </p:pic>
    </p:spTree>
    <p:extLst>
      <p:ext uri="{BB962C8B-B14F-4D97-AF65-F5344CB8AC3E}">
        <p14:creationId xmlns:p14="http://schemas.microsoft.com/office/powerpoint/2010/main" val="366070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76F07-AFC1-0262-0322-3A80B8BE4A39}"/>
              </a:ext>
            </a:extLst>
          </p:cNvPr>
          <p:cNvSpPr>
            <a:spLocks noGrp="1"/>
          </p:cNvSpPr>
          <p:nvPr>
            <p:ph type="title"/>
          </p:nvPr>
        </p:nvSpPr>
        <p:spPr/>
        <p:txBody>
          <a:bodyPr/>
          <a:lstStyle/>
          <a:p>
            <a:r>
              <a:rPr lang="en-US" b="1" dirty="0"/>
              <a:t>Occupation, City &amp; </a:t>
            </a:r>
            <a:r>
              <a:rPr lang="en-US" b="1" dirty="0" err="1"/>
              <a:t>Loan_Status</a:t>
            </a:r>
            <a:r>
              <a:rPr lang="en-US" b="1" dirty="0"/>
              <a:t>.</a:t>
            </a:r>
          </a:p>
        </p:txBody>
      </p:sp>
      <p:sp>
        <p:nvSpPr>
          <p:cNvPr id="4" name="Content Placeholder 3">
            <a:extLst>
              <a:ext uri="{FF2B5EF4-FFF2-40B4-BE49-F238E27FC236}">
                <a16:creationId xmlns:a16="http://schemas.microsoft.com/office/drawing/2014/main" id="{AF9B10EF-2AD1-319F-8F50-241142F0E67A}"/>
              </a:ext>
            </a:extLst>
          </p:cNvPr>
          <p:cNvSpPr>
            <a:spLocks noGrp="1"/>
          </p:cNvSpPr>
          <p:nvPr>
            <p:ph sz="half" idx="2"/>
          </p:nvPr>
        </p:nvSpPr>
        <p:spPr/>
        <p:txBody>
          <a:bodyPr/>
          <a:lstStyle/>
          <a:p>
            <a:r>
              <a:rPr lang="en-US" dirty="0"/>
              <a:t>“The heatmap highlights regional and occupational trends in loan performance.</a:t>
            </a:r>
            <a:br>
              <a:rPr lang="en-US" dirty="0"/>
            </a:br>
            <a:r>
              <a:rPr lang="en-US" dirty="0"/>
              <a:t>Salaried customers in Karnataka and Delhi show strong loan activity, while retired customers in Delhi face higher default tendencies.</a:t>
            </a:r>
            <a:br>
              <a:rPr lang="en-US" dirty="0"/>
            </a:br>
            <a:r>
              <a:rPr lang="en-US" dirty="0"/>
              <a:t>Students and self-employed individuals maintain steady participation across most states, indicating diverse lending patterns.”</a:t>
            </a:r>
          </a:p>
        </p:txBody>
      </p:sp>
      <p:pic>
        <p:nvPicPr>
          <p:cNvPr id="6" name="Content Placeholder 5">
            <a:extLst>
              <a:ext uri="{FF2B5EF4-FFF2-40B4-BE49-F238E27FC236}">
                <a16:creationId xmlns:a16="http://schemas.microsoft.com/office/drawing/2014/main" id="{0E33FE3F-EE2B-E35F-176A-9F5C5B40A862}"/>
              </a:ext>
            </a:extLst>
          </p:cNvPr>
          <p:cNvPicPr>
            <a:picLocks noGrp="1" noChangeAspect="1"/>
          </p:cNvPicPr>
          <p:nvPr>
            <p:ph sz="half" idx="1"/>
          </p:nvPr>
        </p:nvPicPr>
        <p:blipFill>
          <a:blip r:embed="rId2"/>
          <a:stretch>
            <a:fillRect/>
          </a:stretch>
        </p:blipFill>
        <p:spPr>
          <a:xfrm>
            <a:off x="123561" y="2133600"/>
            <a:ext cx="4402402" cy="2654497"/>
          </a:xfrm>
          <a:prstGeom prst="rect">
            <a:avLst/>
          </a:prstGeom>
        </p:spPr>
      </p:pic>
    </p:spTree>
    <p:extLst>
      <p:ext uri="{BB962C8B-B14F-4D97-AF65-F5344CB8AC3E}">
        <p14:creationId xmlns:p14="http://schemas.microsoft.com/office/powerpoint/2010/main" val="285462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DEF1A-90A8-3ABA-93C8-FC9257017D30}"/>
              </a:ext>
            </a:extLst>
          </p:cNvPr>
          <p:cNvSpPr>
            <a:spLocks noGrp="1"/>
          </p:cNvSpPr>
          <p:nvPr>
            <p:ph type="title"/>
          </p:nvPr>
        </p:nvSpPr>
        <p:spPr/>
        <p:txBody>
          <a:bodyPr/>
          <a:lstStyle/>
          <a:p>
            <a:r>
              <a:rPr lang="en-US" b="1" dirty="0" err="1"/>
              <a:t>Credit_Score</a:t>
            </a:r>
            <a:r>
              <a:rPr lang="en-US" b="1" dirty="0"/>
              <a:t>, </a:t>
            </a:r>
            <a:r>
              <a:rPr lang="en-US" b="1" dirty="0" err="1"/>
              <a:t>Interest_Rate</a:t>
            </a:r>
            <a:r>
              <a:rPr lang="en-US" b="1" dirty="0"/>
              <a:t> &amp; </a:t>
            </a:r>
            <a:r>
              <a:rPr lang="en-US" b="1" dirty="0" err="1"/>
              <a:t>Repayment_Status</a:t>
            </a:r>
            <a:endParaRPr lang="en-US" b="1" dirty="0"/>
          </a:p>
        </p:txBody>
      </p:sp>
      <p:sp>
        <p:nvSpPr>
          <p:cNvPr id="4" name="Content Placeholder 3">
            <a:extLst>
              <a:ext uri="{FF2B5EF4-FFF2-40B4-BE49-F238E27FC236}">
                <a16:creationId xmlns:a16="http://schemas.microsoft.com/office/drawing/2014/main" id="{048B7507-7B0B-130E-2488-CDD51C7A73F9}"/>
              </a:ext>
            </a:extLst>
          </p:cNvPr>
          <p:cNvSpPr>
            <a:spLocks noGrp="1"/>
          </p:cNvSpPr>
          <p:nvPr>
            <p:ph sz="half" idx="2"/>
          </p:nvPr>
        </p:nvSpPr>
        <p:spPr/>
        <p:txBody>
          <a:bodyPr/>
          <a:lstStyle/>
          <a:p>
            <a:r>
              <a:rPr lang="en-US" dirty="0"/>
              <a:t>“The analysis shows that higher credit scores are generally linked to completed repayments, though the difference among interest levels remains moderate.</a:t>
            </a:r>
            <a:br>
              <a:rPr lang="en-US" dirty="0"/>
            </a:br>
            <a:r>
              <a:rPr lang="en-US" dirty="0"/>
              <a:t>Borrowers with high interest rates typically have lower credit scores, reflecting accurate risk-based loan pricing.</a:t>
            </a:r>
            <a:br>
              <a:rPr lang="en-US" dirty="0"/>
            </a:br>
            <a:r>
              <a:rPr lang="en-US" dirty="0"/>
              <a:t>Overall, the data indicates balanced credit distribution and consistent lending behavior across repayment categories.”</a:t>
            </a:r>
          </a:p>
        </p:txBody>
      </p:sp>
      <p:pic>
        <p:nvPicPr>
          <p:cNvPr id="5" name="Content Placeholder 4">
            <a:extLst>
              <a:ext uri="{FF2B5EF4-FFF2-40B4-BE49-F238E27FC236}">
                <a16:creationId xmlns:a16="http://schemas.microsoft.com/office/drawing/2014/main" id="{9E08A46E-ED1C-5F4D-B28D-F29264995FED}"/>
              </a:ext>
            </a:extLst>
          </p:cNvPr>
          <p:cNvPicPr>
            <a:picLocks noGrp="1" noChangeAspect="1"/>
          </p:cNvPicPr>
          <p:nvPr>
            <p:ph sz="half" idx="1"/>
          </p:nvPr>
        </p:nvPicPr>
        <p:blipFill>
          <a:blip r:embed="rId2"/>
          <a:stretch>
            <a:fillRect/>
          </a:stretch>
        </p:blipFill>
        <p:spPr>
          <a:xfrm>
            <a:off x="301214" y="2169546"/>
            <a:ext cx="3922797" cy="2951094"/>
          </a:xfrm>
          <a:prstGeom prst="rect">
            <a:avLst/>
          </a:prstGeom>
        </p:spPr>
      </p:pic>
    </p:spTree>
    <p:extLst>
      <p:ext uri="{BB962C8B-B14F-4D97-AF65-F5344CB8AC3E}">
        <p14:creationId xmlns:p14="http://schemas.microsoft.com/office/powerpoint/2010/main" val="12891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C3F8-2593-27F7-99F7-FF9FCAFAC43B}"/>
              </a:ext>
            </a:extLst>
          </p:cNvPr>
          <p:cNvSpPr>
            <a:spLocks noGrp="1"/>
          </p:cNvSpPr>
          <p:nvPr>
            <p:ph type="title"/>
          </p:nvPr>
        </p:nvSpPr>
        <p:spPr/>
        <p:txBody>
          <a:bodyPr>
            <a:noAutofit/>
          </a:bodyPr>
          <a:lstStyle/>
          <a:p>
            <a:r>
              <a:rPr lang="en-US" sz="3600" b="1" dirty="0" err="1"/>
              <a:t>Loan_Type</a:t>
            </a:r>
            <a:r>
              <a:rPr lang="en-US" sz="3600" b="1" dirty="0"/>
              <a:t> and Occupation combination has the maximum number of customers</a:t>
            </a:r>
          </a:p>
        </p:txBody>
      </p:sp>
      <p:sp>
        <p:nvSpPr>
          <p:cNvPr id="4" name="Content Placeholder 3">
            <a:extLst>
              <a:ext uri="{FF2B5EF4-FFF2-40B4-BE49-F238E27FC236}">
                <a16:creationId xmlns:a16="http://schemas.microsoft.com/office/drawing/2014/main" id="{8381B41D-7612-FC62-E5B4-A98B0D628E5E}"/>
              </a:ext>
            </a:extLst>
          </p:cNvPr>
          <p:cNvSpPr>
            <a:spLocks noGrp="1"/>
          </p:cNvSpPr>
          <p:nvPr>
            <p:ph sz="half" idx="2"/>
          </p:nvPr>
        </p:nvSpPr>
        <p:spPr>
          <a:xfrm>
            <a:off x="5181600" y="1845736"/>
            <a:ext cx="3785418" cy="4023359"/>
          </a:xfrm>
        </p:spPr>
        <p:txBody>
          <a:bodyPr/>
          <a:lstStyle/>
          <a:p>
            <a:r>
              <a:rPr lang="en-US" dirty="0"/>
              <a:t>The analysis reveals that </a:t>
            </a:r>
            <a:r>
              <a:rPr lang="en-US" b="1" dirty="0"/>
              <a:t>Home and Car Loans</a:t>
            </a:r>
            <a:r>
              <a:rPr lang="en-US" dirty="0"/>
              <a:t> are the most preferred across different occupations, especially among </a:t>
            </a:r>
            <a:r>
              <a:rPr lang="en-US" b="1" dirty="0"/>
              <a:t>salaried and student</a:t>
            </a:r>
            <a:r>
              <a:rPr lang="en-US" dirty="0"/>
              <a:t> groups.</a:t>
            </a:r>
            <a:br>
              <a:rPr lang="en-US" dirty="0"/>
            </a:br>
            <a:r>
              <a:rPr lang="en-US" dirty="0"/>
              <a:t>A consistent customer count across categories indicates </a:t>
            </a:r>
            <a:r>
              <a:rPr lang="en-US" b="1" dirty="0"/>
              <a:t>balanced loan demand</a:t>
            </a:r>
            <a:r>
              <a:rPr lang="en-US" dirty="0"/>
              <a:t> across age and work profiles.</a:t>
            </a:r>
            <a:br>
              <a:rPr lang="en-US" dirty="0"/>
            </a:br>
            <a:r>
              <a:rPr lang="en-US" dirty="0"/>
              <a:t>Notably, even </a:t>
            </a:r>
            <a:r>
              <a:rPr lang="en-US" b="1" dirty="0"/>
              <a:t>retired and unemployed customers</a:t>
            </a:r>
            <a:r>
              <a:rPr lang="en-US" dirty="0"/>
              <a:t> show significant loan activity, proving that banks serve a </a:t>
            </a:r>
            <a:r>
              <a:rPr lang="en-US" b="1" dirty="0"/>
              <a:t>broad and inclusive customer base</a:t>
            </a:r>
            <a:r>
              <a:rPr lang="en-US" dirty="0"/>
              <a:t>.</a:t>
            </a:r>
          </a:p>
        </p:txBody>
      </p:sp>
      <p:pic>
        <p:nvPicPr>
          <p:cNvPr id="7" name="Content Placeholder 6">
            <a:extLst>
              <a:ext uri="{FF2B5EF4-FFF2-40B4-BE49-F238E27FC236}">
                <a16:creationId xmlns:a16="http://schemas.microsoft.com/office/drawing/2014/main" id="{10852267-C504-B88B-557A-11DAE9F9D30E}"/>
              </a:ext>
            </a:extLst>
          </p:cNvPr>
          <p:cNvPicPr>
            <a:picLocks noGrp="1" noChangeAspect="1"/>
          </p:cNvPicPr>
          <p:nvPr>
            <p:ph sz="half" idx="1"/>
          </p:nvPr>
        </p:nvPicPr>
        <p:blipFill>
          <a:blip r:embed="rId2"/>
          <a:stretch>
            <a:fillRect/>
          </a:stretch>
        </p:blipFill>
        <p:spPr>
          <a:xfrm>
            <a:off x="176982" y="2212258"/>
            <a:ext cx="5001799" cy="2800227"/>
          </a:xfrm>
          <a:prstGeom prst="rect">
            <a:avLst/>
          </a:prstGeom>
        </p:spPr>
      </p:pic>
    </p:spTree>
    <p:extLst>
      <p:ext uri="{BB962C8B-B14F-4D97-AF65-F5344CB8AC3E}">
        <p14:creationId xmlns:p14="http://schemas.microsoft.com/office/powerpoint/2010/main" val="3390111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D6C-3248-73B0-5FA3-2CC095E2DEE7}"/>
              </a:ext>
            </a:extLst>
          </p:cNvPr>
          <p:cNvSpPr>
            <a:spLocks noGrp="1"/>
          </p:cNvSpPr>
          <p:nvPr>
            <p:ph type="title"/>
          </p:nvPr>
        </p:nvSpPr>
        <p:spPr/>
        <p:txBody>
          <a:bodyPr/>
          <a:lstStyle/>
          <a:p>
            <a:r>
              <a:rPr lang="en-US" b="1" dirty="0"/>
              <a:t>Gender and Occupation together affect Loan Status</a:t>
            </a:r>
          </a:p>
        </p:txBody>
      </p:sp>
      <p:pic>
        <p:nvPicPr>
          <p:cNvPr id="6" name="Content Placeholder 5">
            <a:extLst>
              <a:ext uri="{FF2B5EF4-FFF2-40B4-BE49-F238E27FC236}">
                <a16:creationId xmlns:a16="http://schemas.microsoft.com/office/drawing/2014/main" id="{D630C8A2-AC3E-943E-0584-0B7FBA6D46BC}"/>
              </a:ext>
            </a:extLst>
          </p:cNvPr>
          <p:cNvPicPr>
            <a:picLocks noGrp="1" noChangeAspect="1"/>
          </p:cNvPicPr>
          <p:nvPr>
            <p:ph sz="half" idx="1"/>
          </p:nvPr>
        </p:nvPicPr>
        <p:blipFill>
          <a:blip r:embed="rId2"/>
          <a:stretch>
            <a:fillRect/>
          </a:stretch>
        </p:blipFill>
        <p:spPr>
          <a:xfrm>
            <a:off x="57752" y="2477729"/>
            <a:ext cx="4468211" cy="2356553"/>
          </a:xfrm>
          <a:prstGeom prst="rect">
            <a:avLst/>
          </a:prstGeom>
        </p:spPr>
      </p:pic>
      <p:sp>
        <p:nvSpPr>
          <p:cNvPr id="4" name="Content Placeholder 3">
            <a:extLst>
              <a:ext uri="{FF2B5EF4-FFF2-40B4-BE49-F238E27FC236}">
                <a16:creationId xmlns:a16="http://schemas.microsoft.com/office/drawing/2014/main" id="{C273F37F-F88A-4A1D-258E-65F300EB17DE}"/>
              </a:ext>
            </a:extLst>
          </p:cNvPr>
          <p:cNvSpPr>
            <a:spLocks noGrp="1"/>
          </p:cNvSpPr>
          <p:nvPr>
            <p:ph sz="half" idx="2"/>
          </p:nvPr>
        </p:nvSpPr>
        <p:spPr>
          <a:xfrm>
            <a:off x="4663439" y="1845736"/>
            <a:ext cx="4205257" cy="4023359"/>
          </a:xfrm>
        </p:spPr>
        <p:txBody>
          <a:bodyPr>
            <a:normAutofit fontScale="92500" lnSpcReduction="10000"/>
          </a:bodyPr>
          <a:lstStyle/>
          <a:p>
            <a:r>
              <a:rPr lang="en-US" dirty="0"/>
              <a:t>This multivariate analysis explores the relationship between occupation, gender, and loan status. The heatmap reveals that male customers, particularly those who are retired or salaried, have a higher number of closed loans, indicating stronger repayment behavior. Salaried and self-employed individuals show higher loan activity overall, reflecting financial stability, while students and unemployed groups have lower engagement. These insights suggest opportunities for the bank to expand lending toward active income groups and design supportive programs for lower-engagement segments</a:t>
            </a:r>
          </a:p>
        </p:txBody>
      </p:sp>
    </p:spTree>
    <p:extLst>
      <p:ext uri="{BB962C8B-B14F-4D97-AF65-F5344CB8AC3E}">
        <p14:creationId xmlns:p14="http://schemas.microsoft.com/office/powerpoint/2010/main" val="3569405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Analysis Key Insights</a:t>
            </a:r>
            <a:endParaRPr b="1" dirty="0"/>
          </a:p>
        </p:txBody>
      </p:sp>
      <p:sp>
        <p:nvSpPr>
          <p:cNvPr id="3" name="Content Placeholder 2"/>
          <p:cNvSpPr>
            <a:spLocks noGrp="1"/>
          </p:cNvSpPr>
          <p:nvPr>
            <p:ph idx="1"/>
          </p:nvPr>
        </p:nvSpPr>
        <p:spPr>
          <a:xfrm>
            <a:off x="550607" y="1845733"/>
            <a:ext cx="8386916" cy="4456744"/>
          </a:xfrm>
        </p:spPr>
        <p:txBody>
          <a:bodyPr>
            <a:normAutofit fontScale="25000" lnSpcReduction="20000"/>
          </a:bodyPr>
          <a:lstStyle/>
          <a:p>
            <a:pPr>
              <a:buFont typeface="Arial" panose="020B0604020202020204" pitchFamily="34" charset="0"/>
              <a:buChar char="•"/>
            </a:pPr>
            <a:r>
              <a:rPr sz="7200" dirty="0"/>
              <a:t>Gender distribution is equally balanced among Male, Female, and Others.</a:t>
            </a:r>
          </a:p>
          <a:p>
            <a:pPr>
              <a:buFont typeface="Arial" panose="020B0604020202020204" pitchFamily="34" charset="0"/>
              <a:buChar char="•"/>
            </a:pPr>
            <a:r>
              <a:rPr sz="7200" dirty="0"/>
              <a:t>Salaried and self-employed customers dominate across most loan categories.</a:t>
            </a:r>
          </a:p>
          <a:p>
            <a:pPr>
              <a:buFont typeface="Arial" panose="020B0604020202020204" pitchFamily="34" charset="0"/>
              <a:buChar char="•"/>
            </a:pPr>
            <a:r>
              <a:rPr sz="7200" dirty="0"/>
              <a:t>Higher income and better credit scores contribute to successful loan approva</a:t>
            </a:r>
            <a:r>
              <a:rPr lang="en-US" sz="7200" dirty="0"/>
              <a:t>ls</a:t>
            </a:r>
            <a:r>
              <a:rPr sz="7200" dirty="0"/>
              <a:t>.</a:t>
            </a:r>
            <a:endParaRPr lang="en-US" altLang="en-US" sz="7200" dirty="0">
              <a:solidFill>
                <a:schemeClr val="tx1"/>
              </a:solidFill>
              <a:latin typeface="Arial" panose="020B0604020202020204" pitchFamily="34" charset="0"/>
            </a:endParaRPr>
          </a:p>
          <a:p>
            <a:pPr>
              <a:buFont typeface="Arial" panose="020B0604020202020204" pitchFamily="34" charset="0"/>
              <a:buChar char="•"/>
            </a:pPr>
            <a:r>
              <a:rPr lang="en-US" sz="7200" dirty="0"/>
              <a:t>Higher credit scores generally lead to lower interest rates.</a:t>
            </a:r>
          </a:p>
          <a:p>
            <a:pPr>
              <a:buFont typeface="Arial" panose="020B0604020202020204" pitchFamily="34" charset="0"/>
              <a:buChar char="•"/>
            </a:pPr>
            <a:r>
              <a:rPr lang="en-US" sz="7200" dirty="0"/>
              <a:t>Defaulted loans often have lower credit scores.</a:t>
            </a:r>
          </a:p>
          <a:p>
            <a:pPr>
              <a:buFont typeface="Arial" panose="020B0604020202020204" pitchFamily="34" charset="0"/>
              <a:buChar char="•"/>
            </a:pPr>
            <a:r>
              <a:rPr lang="en-US" sz="7200" dirty="0"/>
              <a:t>Certain States and Branches show high loan disbursements.</a:t>
            </a:r>
          </a:p>
          <a:p>
            <a:pPr>
              <a:buFont typeface="Arial" panose="020B0604020202020204" pitchFamily="34" charset="0"/>
              <a:buChar char="•"/>
            </a:pPr>
            <a:r>
              <a:rPr lang="en-US" sz="7200" dirty="0"/>
              <a:t>Annual income and age together influence loan amount.</a:t>
            </a:r>
          </a:p>
          <a:p>
            <a:pPr>
              <a:buFont typeface="Arial" panose="020B0604020202020204" pitchFamily="34" charset="0"/>
              <a:buChar char="•"/>
            </a:pPr>
            <a:r>
              <a:rPr lang="en-US" sz="7200" dirty="0"/>
              <a:t>Regional trends impact loan performance and approval rates.</a:t>
            </a:r>
          </a:p>
          <a:p>
            <a:pPr>
              <a:buFont typeface="Arial" panose="020B0604020202020204" pitchFamily="34" charset="0"/>
              <a:buChar char="•"/>
            </a:pPr>
            <a:r>
              <a:rPr lang="en-US" sz="7200" dirty="0"/>
              <a:t>Urban Loan Branches have better Loan Disbursement and Repayment Performance.</a:t>
            </a:r>
          </a:p>
          <a:p>
            <a:pPr>
              <a:buFont typeface="Arial" panose="020B0604020202020204" pitchFamily="34" charset="0"/>
              <a:buChar char="•"/>
            </a:pPr>
            <a:r>
              <a:rPr lang="en-US" sz="7200" dirty="0"/>
              <a:t>Multivariate analysis reveals strong correlations between Occupation, Gender, and Loan Status.</a:t>
            </a:r>
          </a:p>
          <a:p>
            <a:pPr>
              <a:buFont typeface="Arial" panose="020B0604020202020204" pitchFamily="34" charset="0"/>
              <a:buChar char="•"/>
            </a:pPr>
            <a:r>
              <a:rPr lang="en-US" sz="7200" dirty="0"/>
              <a:t>These insights support better targeting for financial products and credit risk management.</a:t>
            </a:r>
          </a:p>
          <a:p>
            <a:pPr>
              <a:buFont typeface="Arial" panose="020B0604020202020204" pitchFamily="34" charset="0"/>
              <a:buChar char="•"/>
            </a:pPr>
            <a:endParaRPr lang="en-US" sz="7200" dirty="0"/>
          </a:p>
          <a:p>
            <a:pPr>
              <a:buFont typeface="Arial" panose="020B0604020202020204" pitchFamily="34" charset="0"/>
              <a:buChar cha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37F6-CC00-C803-24A6-336D575C2F36}"/>
              </a:ext>
            </a:extLst>
          </p:cNvPr>
          <p:cNvSpPr>
            <a:spLocks noGrp="1"/>
          </p:cNvSpPr>
          <p:nvPr>
            <p:ph type="title"/>
          </p:nvPr>
        </p:nvSpPr>
        <p:spPr>
          <a:xfrm>
            <a:off x="822960" y="943896"/>
            <a:ext cx="8016240" cy="1406013"/>
          </a:xfrm>
        </p:spPr>
        <p:txBody>
          <a:bodyPr>
            <a:normAutofit/>
          </a:bodyPr>
          <a:lstStyle/>
          <a:p>
            <a:r>
              <a:rPr lang="en-US" b="1" dirty="0"/>
              <a:t>Conclusion</a:t>
            </a:r>
            <a:br>
              <a:rPr lang="en-US" dirty="0"/>
            </a:br>
            <a:endParaRPr lang="en-US" dirty="0"/>
          </a:p>
        </p:txBody>
      </p:sp>
      <p:sp>
        <p:nvSpPr>
          <p:cNvPr id="4" name="TextBox 3">
            <a:extLst>
              <a:ext uri="{FF2B5EF4-FFF2-40B4-BE49-F238E27FC236}">
                <a16:creationId xmlns:a16="http://schemas.microsoft.com/office/drawing/2014/main" id="{ADAB60A7-0D48-A820-8A15-993924EC090E}"/>
              </a:ext>
            </a:extLst>
          </p:cNvPr>
          <p:cNvSpPr txBox="1"/>
          <p:nvPr/>
        </p:nvSpPr>
        <p:spPr>
          <a:xfrm>
            <a:off x="678427" y="1931015"/>
            <a:ext cx="7895302" cy="2308324"/>
          </a:xfrm>
          <a:prstGeom prst="rect">
            <a:avLst/>
          </a:prstGeom>
          <a:noFill/>
        </p:spPr>
        <p:txBody>
          <a:bodyPr wrap="square">
            <a:spAutoFit/>
          </a:bodyPr>
          <a:lstStyle/>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dirty="0">
                <a:solidFill>
                  <a:schemeClr val="tx1"/>
                </a:solidFill>
                <a:latin typeface="Arial" panose="020B0604020202020204" pitchFamily="34" charset="0"/>
              </a:rPr>
              <a:t>Helps the bank identify </a:t>
            </a:r>
            <a:r>
              <a:rPr lang="en-US" altLang="en-US" b="1" dirty="0">
                <a:solidFill>
                  <a:schemeClr val="tx1"/>
                </a:solidFill>
                <a:latin typeface="Arial" panose="020B0604020202020204" pitchFamily="34" charset="0"/>
              </a:rPr>
              <a:t>risk profiles</a:t>
            </a:r>
            <a:r>
              <a:rPr lang="en-US" altLang="en-US" dirty="0">
                <a:solidFill>
                  <a:schemeClr val="tx1"/>
                </a:solidFill>
                <a:latin typeface="Arial" panose="020B0604020202020204" pitchFamily="34" charset="0"/>
              </a:rPr>
              <a:t> and </a:t>
            </a:r>
            <a:r>
              <a:rPr lang="en-US" altLang="en-US" b="1" dirty="0">
                <a:solidFill>
                  <a:schemeClr val="tx1"/>
                </a:solidFill>
                <a:latin typeface="Arial" panose="020B0604020202020204" pitchFamily="34" charset="0"/>
              </a:rPr>
              <a:t>profitable regions</a:t>
            </a:r>
            <a:r>
              <a:rPr lang="en-US" altLang="en-US" dirty="0">
                <a:solidFill>
                  <a:schemeClr val="tx1"/>
                </a:solidFill>
                <a:latin typeface="Arial" panose="020B0604020202020204" pitchFamily="34" charset="0"/>
              </a:rPr>
              <a:t>.</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dirty="0">
                <a:solidFill>
                  <a:schemeClr val="tx1"/>
                </a:solidFill>
                <a:latin typeface="Arial" panose="020B0604020202020204" pitchFamily="34" charset="0"/>
              </a:rPr>
              <a:t>Supports </a:t>
            </a:r>
            <a:r>
              <a:rPr lang="en-US" altLang="en-US" b="1" dirty="0">
                <a:solidFill>
                  <a:schemeClr val="tx1"/>
                </a:solidFill>
                <a:latin typeface="Arial" panose="020B0604020202020204" pitchFamily="34" charset="0"/>
              </a:rPr>
              <a:t>credit policy improvement</a:t>
            </a:r>
            <a:r>
              <a:rPr lang="en-US" altLang="en-US" dirty="0">
                <a:solidFill>
                  <a:schemeClr val="tx1"/>
                </a:solidFill>
                <a:latin typeface="Arial" panose="020B0604020202020204" pitchFamily="34" charset="0"/>
              </a:rPr>
              <a:t> and </a:t>
            </a:r>
            <a:r>
              <a:rPr lang="en-US" altLang="en-US" b="1" dirty="0">
                <a:solidFill>
                  <a:schemeClr val="tx1"/>
                </a:solidFill>
                <a:latin typeface="Arial" panose="020B0604020202020204" pitchFamily="34" charset="0"/>
              </a:rPr>
              <a:t>interest rate optimization</a:t>
            </a:r>
            <a:r>
              <a:rPr lang="en-US" altLang="en-US" dirty="0">
                <a:solidFill>
                  <a:schemeClr val="tx1"/>
                </a:solidFill>
                <a:latin typeface="Arial" panose="020B0604020202020204" pitchFamily="34" charset="0"/>
              </a:rPr>
              <a:t>.</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dirty="0">
                <a:solidFill>
                  <a:schemeClr val="tx1"/>
                </a:solidFill>
                <a:latin typeface="Arial" panose="020B0604020202020204" pitchFamily="34" charset="0"/>
              </a:rPr>
              <a:t>Highlights opportunities for </a:t>
            </a:r>
            <a:r>
              <a:rPr lang="en-US" altLang="en-US" b="1" dirty="0">
                <a:solidFill>
                  <a:schemeClr val="tx1"/>
                </a:solidFill>
                <a:latin typeface="Arial" panose="020B0604020202020204" pitchFamily="34" charset="0"/>
              </a:rPr>
              <a:t>financial inclusion</a:t>
            </a:r>
            <a:r>
              <a:rPr lang="en-US" altLang="en-US" dirty="0">
                <a:solidFill>
                  <a:schemeClr val="tx1"/>
                </a:solidFill>
                <a:latin typeface="Arial" panose="020B0604020202020204" pitchFamily="34" charset="0"/>
              </a:rPr>
              <a:t> and </a:t>
            </a:r>
            <a:r>
              <a:rPr lang="en-US" altLang="en-US" b="1" dirty="0">
                <a:solidFill>
                  <a:schemeClr val="tx1"/>
                </a:solidFill>
                <a:latin typeface="Arial" panose="020B0604020202020204" pitchFamily="34" charset="0"/>
              </a:rPr>
              <a:t>targeted product strategies</a:t>
            </a:r>
            <a:r>
              <a:rPr lang="en-US" altLang="en-US" dirty="0">
                <a:solidFill>
                  <a:schemeClr val="tx1"/>
                </a:solidFill>
                <a:latin typeface="Arial" panose="020B0604020202020204" pitchFamily="34" charset="0"/>
              </a:rPr>
              <a:t>.</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b="1" dirty="0">
                <a:solidFill>
                  <a:schemeClr val="tx1"/>
                </a:solidFill>
                <a:latin typeface="Arial" panose="020B0604020202020204" pitchFamily="34" charset="0"/>
              </a:rPr>
              <a:t>Risk-prone profiles</a:t>
            </a:r>
            <a:r>
              <a:rPr lang="en-US" altLang="en-US" dirty="0">
                <a:solidFill>
                  <a:schemeClr val="tx1"/>
                </a:solidFill>
                <a:latin typeface="Arial" panose="020B0604020202020204" pitchFamily="34" charset="0"/>
              </a:rPr>
              <a:t> that may need stricter evaluation, and</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dirty="0">
                <a:solidFill>
                  <a:schemeClr val="tx1"/>
                </a:solidFill>
                <a:latin typeface="Arial" panose="020B0604020202020204" pitchFamily="34" charset="0"/>
              </a:rPr>
              <a:t>Opportunities to </a:t>
            </a:r>
            <a:r>
              <a:rPr lang="en-US" altLang="en-US" b="1" dirty="0">
                <a:solidFill>
                  <a:schemeClr val="tx1"/>
                </a:solidFill>
                <a:latin typeface="Arial" panose="020B0604020202020204" pitchFamily="34" charset="0"/>
              </a:rPr>
              <a:t>refine lending and credit policies</a:t>
            </a:r>
            <a:r>
              <a:rPr lang="en-US" altLang="en-US" dirty="0">
                <a:solidFill>
                  <a:schemeClr val="tx1"/>
                </a:solidFill>
                <a:latin typeface="Arial" panose="020B0604020202020204" pitchFamily="34" charset="0"/>
              </a:rPr>
              <a:t>.</a:t>
            </a:r>
          </a:p>
          <a:p>
            <a:pPr marL="285750" indent="-285750">
              <a:lnSpc>
                <a:spcPct val="100000"/>
              </a:lnSpc>
              <a:buFont typeface="Arial" panose="020B0604020202020204" pitchFamily="34" charset="0"/>
              <a:buChar char="•"/>
            </a:pPr>
            <a:r>
              <a:rPr lang="en-US" b="1" dirty="0"/>
              <a:t>These findings can assist the bank in improving its credit strategy, enhancing </a:t>
            </a:r>
          </a:p>
          <a:p>
            <a:pPr>
              <a:lnSpc>
                <a:spcPct val="100000"/>
              </a:lnSpc>
            </a:pPr>
            <a:r>
              <a:rPr lang="en-US" b="1" dirty="0"/>
              <a:t>     customer targeting, and optimizing interest rate decisions.</a:t>
            </a:r>
          </a:p>
        </p:txBody>
      </p:sp>
    </p:spTree>
    <p:extLst>
      <p:ext uri="{BB962C8B-B14F-4D97-AF65-F5344CB8AC3E}">
        <p14:creationId xmlns:p14="http://schemas.microsoft.com/office/powerpoint/2010/main" val="302190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Prepared by: Md Kaif Momin</a:t>
            </a:r>
          </a:p>
          <a:p>
            <a:r>
              <a:t>Data Analyst Course Project</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181</TotalTime>
  <Words>781</Words>
  <Application>Microsoft Office PowerPoint</Application>
  <PresentationFormat>On-screen Show (4:3)</PresentationFormat>
  <Paragraphs>53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Retrospect</vt:lpstr>
      <vt:lpstr>Bank Loan Analytics : Insights for Smarter Lending Decisions</vt:lpstr>
      <vt:lpstr>Dataset Overview</vt:lpstr>
      <vt:lpstr>Objectives of Multivariate Analysis</vt:lpstr>
      <vt:lpstr>Age, Income &amp; Loan_Amount combined? </vt:lpstr>
      <vt:lpstr>State and Bank Branch combinations have the best Loan Approval Rate?</vt:lpstr>
      <vt:lpstr>Occupation, City &amp; Loan_Status.</vt:lpstr>
      <vt:lpstr>Credit_Score, Interest_Rate &amp; Repayment_Status</vt:lpstr>
      <vt:lpstr>Loan_Type and Occupation combination has the maximum number of customers</vt:lpstr>
      <vt:lpstr>Gender and Occupation together affect Loan Status</vt:lpstr>
      <vt:lpstr>Analysis Key Insights</vt:lpstr>
      <vt:lpstr>Conclusion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kaif Momin</cp:lastModifiedBy>
  <cp:revision>1</cp:revision>
  <dcterms:created xsi:type="dcterms:W3CDTF">2013-01-27T09:14:16Z</dcterms:created>
  <dcterms:modified xsi:type="dcterms:W3CDTF">2025-10-28T19:17:37Z</dcterms:modified>
  <cp:category/>
</cp:coreProperties>
</file>